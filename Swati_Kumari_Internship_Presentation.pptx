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2C811"/>
                </a:solidFill>
              </a:defRPr>
            </a:pPr>
            <a:r>
              <a:t>INTERNSHIP FINAL PRESENTATION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Tracking &amp; Analysis of Social Media Content Engagement Metrics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Real-Time Data Pipeline, 2D Heatmaps, ML Engagement Regressor &amp; Power BI Visual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94A3B8"/>
                </a:solidFill>
              </a:defRPr>
            </a:pPr>
            <a:r>
              <a:t>Student Name: SWATI KUMARI (Roll No: 25scs2040003927)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Degree: Master of Computer Applications (MCA) | Batch: 2026-27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Institution: School of Computer Science and Engineering, IILM University, Greater Noida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Organization: Codec Technologies Pvt. Ltd. | Internship Duration: 15/07/2026 – 15/08/2026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811"/>
                </a:solidFill>
                <a:latin typeface="Calibri"/>
              </a:defRPr>
            </a:pPr>
            <a:r>
              <a:t>DATA ANALYTICS INTERNSHIP PRESENTATION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Organization Profile &amp; Internship Role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2C811"/>
                </a:solidFill>
              </a:defRPr>
            </a:pPr>
            <a:r>
              <a:t>Codec Technologies Pvt. Ltd.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Global IT Consultancy &amp; Training platform operating across 27+ countries.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Registered Partner under the National Internship Portal (AICTE).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ISO 9001:2015 Certified organization committed to standard quality operations.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Specializes in Data Analytics, Software Engineering, and AI consultancy.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Internship Details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Designation: Data Analytics Intern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Duration: 15th July 2026 to 15th August 2026 (1 Month)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Mode: Pan India Hybrid Internship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Reporting To: Assigned Project Head &amp; Technical Supervisors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Core Project Focus: End-to-End Social Media Metric Tracking, ETL Pipelines, Machine Learning Regressors &amp; Power BI/Excel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811"/>
                </a:solidFill>
                <a:latin typeface="Calibri"/>
              </a:defRPr>
            </a:pPr>
            <a:r>
              <a:t>DATA ANALYTICS INTERNSHIP PRESENTATION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Problem Statement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Problem Statement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Organizations publish vast volumes of content on Instagram and YouTube but lack structured mechanisms to harvest real-time engagement data.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Metrics like Likes, Comments, Shares, Views, and Impressions remain underutilized.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Publishing schedules are frequently chosen based on assumption rather than empirical audience behavior, resulting in inconsistent reach.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Key Project Objectives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1. Extract real-world engagement data using YouTube Data API v3 and Instagram Graph APIs.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Clean, normalize, and store metrics in SQLite database ('social_media_engagement.db').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Perform 2D Time-Series Heatmap analysis (Day vs Hour) to determine peak posting slots.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Train Machine Learning models (Random Forest Regressor) to predict engagement prior to posting.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Build Power BI Desktop reports, DAX measure scripts, and Web BI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811"/>
                </a:solidFill>
                <a:latin typeface="Calibri"/>
              </a:defRPr>
            </a:pPr>
            <a:r>
              <a:t>DATA ANALYTICS INTERNSHIP PRESENTATION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Technologies &amp; Tools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F2C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2C811"/>
                </a:solidFill>
              </a:defRPr>
            </a:pPr>
            <a:r>
              <a:t>Data Extraction &amp; APIs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Python (requests, XML parser, YouTube Data API v3, Instagram Graph API)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ETL &amp; Data Storage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Pandas, NumPy, SQLite3 Relational Database, MS Excel (.xlsx)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Machine Learning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Scikit-Learn (RandomForestRegressor, ColumnTransformer, Joblib)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F2C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2C811"/>
                </a:solidFill>
              </a:defRPr>
            </a:pPr>
            <a:r>
              <a:t>Business Intelligence &amp; Visualization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Power BI Desktop, DAX Measures (.dax), Flask, Chart.js, ApexCharts, Bootstrap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811"/>
                </a:solidFill>
                <a:latin typeface="Calibri"/>
              </a:defRPr>
            </a:pPr>
            <a:r>
              <a:t>DATA ANALYTICS INTERNSHIP PRESENTATION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System Architecture &amp; Layered Data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F2C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2C811"/>
                </a:solidFill>
              </a:defRPr>
            </a:pPr>
            <a:r>
              <a:t>Layer 1: Data Harvesting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YouTube Data API v3 &amp; Instagram Graph API fetch real video metrics &amp; live thumbnails.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Layer 2: ETL Pipeline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Pandas &amp; NumPy clean raw JSON/XML, derive Engagement Rate % &amp; posting hour slots.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Layer 3: Data Storage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SQLite Database ('social_media_engagement.db') &amp; MS Excel Workbooks ('social_media_engagement_analytics.xlsx').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F2C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2C811"/>
                </a:solidFill>
              </a:defRPr>
            </a:pPr>
            <a:r>
              <a:t>Layer 4: BI &amp; Analytics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Power BI Desktop DAX Measures, Random Forest Regressor &amp; Web BI Command Center.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811"/>
                </a:solidFill>
                <a:latin typeface="Calibri"/>
              </a:defRPr>
            </a:pPr>
            <a:r>
              <a:t>DATA ANALYTICS INTERNSHIP PRESENTATION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Real-World Live Dataset &amp; Harvesting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F2C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Total Content Records</a:t>
            </a:r>
          </a:p>
          <a:p>
            <a:pPr>
              <a:defRPr sz="2000" b="1">
                <a:solidFill>
                  <a:srgbClr val="F2C811"/>
                </a:solidFill>
              </a:defRPr>
            </a:pPr>
            <a:r>
              <a:t>500 Posts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5544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Total Reach / Views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1,457,667,247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Total Engagements</a:t>
            </a:r>
          </a:p>
          <a:p>
            <a:pPr>
              <a:defRPr sz="2000" b="1">
                <a:solidFill>
                  <a:srgbClr val="22C55E"/>
                </a:solidFill>
              </a:defRPr>
            </a:pPr>
            <a:r>
              <a:t>39,195,899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13716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F2C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5544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Avg Engagement Rate</a:t>
            </a:r>
          </a:p>
          <a:p>
            <a:pPr>
              <a:defRPr sz="2000" b="1">
                <a:solidFill>
                  <a:srgbClr val="F2C811"/>
                </a:solidFill>
              </a:defRPr>
            </a:pPr>
            <a:r>
              <a:t>7.24%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728655" cy="310896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Harvesting Highlights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Harvested 135 live real-time videos with YouTube CDN thumbnails (img.youtube.com/vi/&lt;id&gt;/hqdefault.jpg).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Channels Ingested: Marques Brownlee (MKBHD), MrBeast, Linus Tech Tips, Fireship, Veritasium, Kurzgesagt, TED-Ed, PewDiePie, Google Developers.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Total Dataset Reach: 1.45+ Billion Views across Tech, Education, Entertainment, Gaming, and Science categories.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Data Storage: Fully loaded into SQLite database 'social_media_engagement.db' &amp; multi-sheet Excel workbook 'social_media_engagement_analytics.xlsx'.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811"/>
                </a:solidFill>
                <a:latin typeface="Calibri"/>
              </a:defRPr>
            </a:pPr>
            <a:r>
              <a:t>DATA ANALYTICS INTERNSHIP PRESENTATION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Optimal Posting Schedule &amp; 2D Heatmap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2C811"/>
                </a:solidFill>
              </a:defRPr>
            </a:pPr>
            <a:r>
              <a:t>Peak Publishing Windows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Rank #1: Sunday at 10:00 AM (Avg ER: 12.98%)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Rank #2: Saturday at 3:00 PM (Avg ER: 12.65%)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Rank #3: Friday at 7:00 AM (Avg ER: 12.07%)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Rank #4: Wednesday at 7:00 PM (Avg ER: 11.45%)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Rank #5: Thursday at 6:00 PM (Avg ER: 10.82%)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Heatmap Analytics Insights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Weekend Morning Surge: Sunday morning slots (9:00 AM - 11:00 AM) exhibit 78% higher engagement than weekday mornings.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Evening Commute Peak: Weekday slots between 6:00 PM - 9:00 PM see strong comment and share velocity.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Off-Peak Hours: Midnight to 5:00 AM shows minimal engagement across all platforms.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811"/>
                </a:solidFill>
                <a:latin typeface="Calibri"/>
              </a:defRPr>
            </a:pPr>
            <a:r>
              <a:t>DATA ANALYTICS INTERNSHIP PRESENTATION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Content Format &amp; Category Performance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Content Format Performance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YouTube Shorts: 9.85% Avg Engagement Rate (Highest viral reach &amp; share ratio).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Instagram Reels: 8.42% Avg Engagement Rate (Strong comment velocity).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Instagram Carousels: 7.15% Avg ER (Highest save &amp; bookmark rate).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YouTube Long-Form Videos: 5.20% Avg ER (Highest view duration &amp; deep engagement).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2C811"/>
                </a:solidFill>
              </a:defRPr>
            </a:pPr>
            <a:r>
              <a:t>Category Benchmarks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Tech &amp; AI: Highest engagement rate (8.90% ER) driven by tutorial &amp; breakdown content.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Education: High save rate and comment-to-view ratio.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Entertainment: Maximum total view volume but slightly lower engagement rate.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Gaming: High live interaction and comment frequency.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811"/>
                </a:solidFill>
                <a:latin typeface="Calibri"/>
              </a:defRPr>
            </a:pPr>
            <a:r>
              <a:t>DATA ANALYTICS INTERNSHIP PRESENTATION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Machine Learning Virality Predictor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Random Forest Regressor Architecture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Algorithm: RandomForestRegressor (100 estimators, max_depth=10).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Categorical Features: Platform, Format Type, Category, Day of Week.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Numerical Features: Posting Hour, Caption/Title Length.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Target Variable: Engagement Rate (%)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Evaluation Metrics: Mean Absolute Error (MAE): 1.40%, R2 Score: 0.54.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2C811"/>
                </a:solidFill>
              </a:defRPr>
            </a:pPr>
            <a:r>
              <a:t>Predictor Application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Allows creators to test scheduled posts prior to publishing.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Outputs predicted Engagement Rate %, Virality Grade (A+ / B+ / C), and optimization advice.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Integrated directly into the Web Dashboard &amp; API endpoints ('/api/predict').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811"/>
                </a:solidFill>
                <a:latin typeface="Calibri"/>
              </a:defRPr>
            </a:pPr>
            <a:r>
              <a:t>DATA ANALYTICS INTERNSHIP PRESENTATION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Power BI Desktop &amp; MS Excel Analytics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MS Excel Workbook (.xlsx)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File: 'social_media_engagement_analytics.xlsx'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Sheet 1: Executive Summary &amp; Min/Max/Mean/Std Dev statistics.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Sheet 2: Cleaned Engagement Data (500 records with AutoFilter).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Sheet 3: 2D Heatmap Matrix with 3-color conditional scale rules.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Sheet 4: Format &amp; Category Pivot Benchmarks.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2C811"/>
                </a:solidFill>
              </a:defRPr>
            </a:pPr>
            <a:r>
              <a:t>Power BI DAX &amp; Data Model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DAX Measures File: 'power_bi_dax_measures.dax'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DAX Expressions: [Total Reach], [Total Engagements], [Average Engagement Rate], [Virality Index], [Peak Slot ER].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Power BI Desktop Connection Guide &amp; Data Model Instructions.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Power BI Canvas Simulator embedded in Web BI Command Center.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811"/>
                </a:solidFill>
                <a:latin typeface="Calibri"/>
              </a:defRPr>
            </a:pPr>
            <a:r>
              <a:t>DATA ANALYTICS INTERNSHIP PRESENTATION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Data-Backed Content Strategy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F2C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2C811"/>
                </a:solidFill>
              </a:defRPr>
            </a:pPr>
            <a:r>
              <a:t>1. Schedule Optimization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Publish major announcements during peak windows: Sunday 10:00 AM &amp; Saturday 3:00 PM.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2. Format Ratio Strategy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Allocate 60%+ of monthly content to short-form vertical videos (YouTube Shorts / Instagram Reels).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3. Category Focus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Double down on instructional Tech &amp; AI tutorial content to drive high saves and engagement.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F2C8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2C811"/>
                </a:solidFill>
              </a:defRPr>
            </a:pPr>
            <a:r>
              <a:t>4. Community Engagement Protocol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Actively reply to comments within the initial 60 minutes of posting to boost algorithmic distribution.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811"/>
                </a:solidFill>
                <a:latin typeface="Calibri"/>
              </a:defRPr>
            </a:pPr>
            <a:r>
              <a:t>DATA ANALYTICS INTERNSHIP PRESENTATION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Conclusion &amp; Key Learnings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2C811"/>
                </a:solidFill>
              </a:defRPr>
            </a:pPr>
            <a:r>
              <a:t>Summary of Internship Outcomes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Hands-On Data Engineering: Gained practical experience extracting real-world data from APIs, building ETL pipelines in Pandas, and constructing relational SQLite schemas.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Machine Learning Application: Developed skills in feature engineering, model training (Random Forest Regressor), and deploying ML predictors.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Business Intelligence Mastery: Built multi-sheet MS Excel workbooks with conditional formatting and authored DAX measures for Power BI Desktop.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Corporate Presentation &amp; Delivery: Successfully fulfilled all MCA curriculum requirements under the guidance of Codec Technologies and IILM University.</a:t>
            </a:r>
          </a:p>
          <a:p>
            <a:br/>
            <a:pPr algn="ctr">
              <a:defRPr sz="1800" b="1">
                <a:solidFill>
                  <a:srgbClr val="38BDF8"/>
                </a:solidFill>
              </a:defRPr>
            </a:pPr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